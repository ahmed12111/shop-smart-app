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5F207B-E796-4933-868C-2BDFB9C0C2B2}">
  <a:tblStyle styleId="{015F207B-E796-4933-868C-2BDFB9C0C2B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7D730BEB-7F75-63B0-2C94-89BA66068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>
            <a:extLst>
              <a:ext uri="{FF2B5EF4-FFF2-40B4-BE49-F238E27FC236}">
                <a16:creationId xmlns:a16="http://schemas.microsoft.com/office/drawing/2014/main" id="{F6804795-2274-7F8C-A168-3DB45B8D0F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>
            <a:extLst>
              <a:ext uri="{FF2B5EF4-FFF2-40B4-BE49-F238E27FC236}">
                <a16:creationId xmlns:a16="http://schemas.microsoft.com/office/drawing/2014/main" id="{999F2A0F-5C40-6E9C-492F-4EA44D4FFF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7055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7E8F3CFA-4A75-ADCB-D6D7-C2F33BAB4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>
            <a:extLst>
              <a:ext uri="{FF2B5EF4-FFF2-40B4-BE49-F238E27FC236}">
                <a16:creationId xmlns:a16="http://schemas.microsoft.com/office/drawing/2014/main" id="{9714FBF7-B886-3515-4FBF-FBD12E91E0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>
            <a:extLst>
              <a:ext uri="{FF2B5EF4-FFF2-40B4-BE49-F238E27FC236}">
                <a16:creationId xmlns:a16="http://schemas.microsoft.com/office/drawing/2014/main" id="{7254A837-9422-2EE2-6257-AB037CFD8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76654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1410414" y="2495550"/>
            <a:ext cx="937117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SmartShop</a:t>
            </a:r>
            <a:r>
              <a:rPr lang="en-US" sz="60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 Mobile App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633537" y="3829050"/>
            <a:ext cx="89249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A Flutter &amp; Firebase eCommerce Solution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1249802" y="1679236"/>
            <a:ext cx="1143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800"/>
          </a:p>
        </p:txBody>
      </p:sp>
      <p:sp>
        <p:nvSpPr>
          <p:cNvPr id="92" name="Google Shape;92;p14"/>
          <p:cNvSpPr txBox="1"/>
          <p:nvPr/>
        </p:nvSpPr>
        <p:spPr>
          <a:xfrm>
            <a:off x="1364102" y="1679236"/>
            <a:ext cx="504825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What is 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SmartShop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modern, cross-platform eCommerce mobile application built for a seamless user experience.</a:t>
            </a:r>
            <a:endParaRPr sz="1800" dirty="0"/>
          </a:p>
        </p:txBody>
      </p:sp>
      <p:sp>
        <p:nvSpPr>
          <p:cNvPr id="93" name="Google Shape;93;p14"/>
          <p:cNvSpPr txBox="1"/>
          <p:nvPr/>
        </p:nvSpPr>
        <p:spPr>
          <a:xfrm>
            <a:off x="1249802" y="2912825"/>
            <a:ext cx="1143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800"/>
          </a:p>
        </p:txBody>
      </p:sp>
      <p:sp>
        <p:nvSpPr>
          <p:cNvPr id="94" name="Google Shape;94;p14"/>
          <p:cNvSpPr txBox="1"/>
          <p:nvPr/>
        </p:nvSpPr>
        <p:spPr>
          <a:xfrm>
            <a:off x="1364102" y="2912825"/>
            <a:ext cx="504825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Purpose of the App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provide a fast, responsive, and user-friendly shopping platform, from browsing to checkout.</a:t>
            </a:r>
            <a:endParaRPr sz="1800"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1249802" y="4175593"/>
            <a:ext cx="1143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800"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1364102" y="4175593"/>
            <a:ext cx="50482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Target Users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Tech-savvy online shoppers, mobile-first consumers, and anyone seeking a convenient and reliable way to shop.</a:t>
            </a:r>
            <a:endParaRPr sz="180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90750"/>
            <a:ext cx="3429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190750"/>
            <a:ext cx="3429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190750"/>
            <a:ext cx="3429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45832" y="3200400"/>
            <a:ext cx="268033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Common Issues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66775" y="3990975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Users face clunky UIs, slow performance, and complicated checkout processes in many existing online shopping apps.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4860845" y="3200400"/>
            <a:ext cx="24703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Why They Exist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4676775" y="3990975"/>
            <a:ext cx="28384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These problems come from outdated architectures, inefficient backends, and unoptimized data handling.</a:t>
            </a:r>
            <a:endParaRPr lang="en-US"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8665845" y="3200400"/>
            <a:ext cx="24803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Gap We Fill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486775" y="3990975"/>
            <a:ext cx="2838450" cy="173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SmartShop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delivers a fast, scalable, and smooth shopping experience built with modern Flutter design and performance in mind.</a:t>
            </a:r>
            <a:endParaRPr lang="en-US" dirty="0"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57400" y="25050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0" y="25050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77400" y="25050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1518919" y="1735984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Our Approach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1642744" y="2336059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757044" y="2336059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single Flutter app provides a smooth, native-like feel on all devices.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642744" y="3050434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757044" y="3050434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Main User Flow: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Browse Products -&gt; Add to Cart -&gt; Simple Checkout -&gt; Order Confirmed.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642744" y="3764809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757044" y="3764809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Overall Value: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fast, reliable, and enjoyable shopping journey from start to finish.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Solution Overview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Tech Stack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1315225" y="1388550"/>
            <a:ext cx="1395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708"/>
          </a:p>
        </p:txBody>
      </p:sp>
      <p:sp>
        <p:nvSpPr>
          <p:cNvPr id="135" name="Google Shape;135;p17"/>
          <p:cNvSpPr txBox="1"/>
          <p:nvPr/>
        </p:nvSpPr>
        <p:spPr>
          <a:xfrm>
            <a:off x="1454699" y="1388550"/>
            <a:ext cx="95643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475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Frontend</a:t>
            </a:r>
            <a:r>
              <a:rPr lang="en-US" sz="183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3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3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Developed with Flutter for a smooth, responsive, and cross-platform experience on iOS and Android. Designed with user-friendly and visually appealing interfaces.</a:t>
            </a:r>
            <a:endParaRPr sz="1708"/>
          </a:p>
        </p:txBody>
      </p:sp>
      <p:sp>
        <p:nvSpPr>
          <p:cNvPr id="136" name="Google Shape;136;p17"/>
          <p:cNvSpPr txBox="1"/>
          <p:nvPr/>
        </p:nvSpPr>
        <p:spPr>
          <a:xfrm>
            <a:off x="1315225" y="2503861"/>
            <a:ext cx="1395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708"/>
          </a:p>
        </p:txBody>
      </p:sp>
      <p:sp>
        <p:nvSpPr>
          <p:cNvPr id="137" name="Google Shape;137;p17"/>
          <p:cNvSpPr txBox="1"/>
          <p:nvPr/>
        </p:nvSpPr>
        <p:spPr>
          <a:xfrm>
            <a:off x="1454700" y="2503854"/>
            <a:ext cx="95142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475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Backend</a:t>
            </a:r>
            <a:r>
              <a:rPr lang="en-US" sz="183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3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3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Powered by Firebase, providing secure and scalable services like Authentication, Firestore, Storage, and real-time notifications. Ensures fast and reliable data management.</a:t>
            </a:r>
            <a:endParaRPr sz="1708"/>
          </a:p>
        </p:txBody>
      </p:sp>
      <p:sp>
        <p:nvSpPr>
          <p:cNvPr id="138" name="Google Shape;138;p17"/>
          <p:cNvSpPr txBox="1"/>
          <p:nvPr/>
        </p:nvSpPr>
        <p:spPr>
          <a:xfrm>
            <a:off x="1315225" y="3606172"/>
            <a:ext cx="1395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708"/>
          </a:p>
        </p:txBody>
      </p:sp>
      <p:sp>
        <p:nvSpPr>
          <p:cNvPr id="139" name="Google Shape;139;p17"/>
          <p:cNvSpPr txBox="1"/>
          <p:nvPr/>
        </p:nvSpPr>
        <p:spPr>
          <a:xfrm>
            <a:off x="1454700" y="3606178"/>
            <a:ext cx="95142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475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State Management</a:t>
            </a:r>
            <a:r>
              <a:rPr lang="en-US" sz="183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3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Provider is used to manage the app’s state efficiently, separating logic from UI for clean, maintainable, and scalable code.</a:t>
            </a:r>
            <a:endParaRPr sz="1808"/>
          </a:p>
        </p:txBody>
      </p:sp>
      <p:sp>
        <p:nvSpPr>
          <p:cNvPr id="140" name="Google Shape;140;p17"/>
          <p:cNvSpPr txBox="1"/>
          <p:nvPr/>
        </p:nvSpPr>
        <p:spPr>
          <a:xfrm>
            <a:off x="1467625" y="3758572"/>
            <a:ext cx="139500" cy="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8"/>
          </a:p>
        </p:txBody>
      </p:sp>
      <p:sp>
        <p:nvSpPr>
          <p:cNvPr id="141" name="Google Shape;141;p17"/>
          <p:cNvSpPr txBox="1"/>
          <p:nvPr/>
        </p:nvSpPr>
        <p:spPr>
          <a:xfrm>
            <a:off x="1315237" y="4569326"/>
            <a:ext cx="1395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708"/>
          </a:p>
        </p:txBody>
      </p:sp>
      <p:sp>
        <p:nvSpPr>
          <p:cNvPr id="142" name="Google Shape;142;p17"/>
          <p:cNvSpPr txBox="1"/>
          <p:nvPr/>
        </p:nvSpPr>
        <p:spPr>
          <a:xfrm>
            <a:off x="1454725" y="4569325"/>
            <a:ext cx="7629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475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Tools</a:t>
            </a:r>
            <a:r>
              <a:rPr lang="en-US" sz="183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endParaRPr sz="1830" b="1" i="0" u="none" strike="noStrike" cap="non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Char char="●"/>
            </a:pPr>
            <a:r>
              <a:rPr lang="en-US" sz="13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Android Studio </a:t>
            </a:r>
            <a:r>
              <a:rPr lang="en-US" sz="1300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3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main development environment</a:t>
            </a:r>
            <a:endParaRPr sz="1300" b="1" i="0" u="none" strike="noStrike" cap="non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Char char="●"/>
            </a:pPr>
            <a:r>
              <a:rPr lang="en-US" sz="13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Git &amp; GitHub </a:t>
            </a:r>
            <a:r>
              <a:rPr lang="en-US" sz="1300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3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version control and collaborative development</a:t>
            </a:r>
            <a:endParaRPr sz="1300" b="1" i="0" u="none" strike="noStrike" cap="non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Char char="●"/>
            </a:pPr>
            <a:r>
              <a:rPr lang="en-US" sz="13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Flutter Packages </a:t>
            </a:r>
            <a:r>
              <a:rPr lang="en-US" sz="1300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3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integrate features like animations, image handling, and network management quickly and reliably</a:t>
            </a:r>
            <a:endParaRPr sz="1300" b="1" i="0" u="none" strike="noStrike" cap="non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30" b="1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/>
        </p:nvSpPr>
        <p:spPr>
          <a:xfrm>
            <a:off x="2190750" y="2238375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User Authentication: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Secure login and registration with Email/Password and Google Sign-In.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2190750" y="2714625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Browse Products: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clean, scrollable list of all available products with filtering (if implemented).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2190750" y="3190875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Product Details: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View detailed information, including multiple images, price, and description.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2190750" y="3667125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Add to Cart: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Seamlessly add products to the user's personal shopping cart.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2190750" y="4143375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Cart Management: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Ability to update item quantities or remove items directly from the cart.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2190750" y="4619625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Checkout: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simple, multi-step process to confirm the order and shipping details.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2190750" y="5095875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User Profile &amp; Order History: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View personal details and a list of all past orders.</a:t>
            </a:r>
            <a:endParaRPr/>
          </a:p>
        </p:txBody>
      </p:sp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22860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27622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3238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37147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41910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46672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51435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Core Features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/>
        </p:nvSpPr>
        <p:spPr>
          <a:xfrm>
            <a:off x="695325" y="2000250"/>
            <a:ext cx="1395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708"/>
          </a:p>
        </p:txBody>
      </p:sp>
      <p:sp>
        <p:nvSpPr>
          <p:cNvPr id="167" name="Google Shape;167;p19"/>
          <p:cNvSpPr txBox="1"/>
          <p:nvPr/>
        </p:nvSpPr>
        <p:spPr>
          <a:xfrm>
            <a:off x="834802" y="2000250"/>
            <a:ext cx="61602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4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Clean Folder Structure:</a:t>
            </a:r>
            <a:r>
              <a:rPr lang="en-US" sz="183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Organized by feature (e.g., auth, products, cart) for scalability and maintenance.</a:t>
            </a:r>
            <a:endParaRPr sz="1708"/>
          </a:p>
        </p:txBody>
      </p:sp>
      <p:sp>
        <p:nvSpPr>
          <p:cNvPr id="168" name="Google Shape;168;p19"/>
          <p:cNvSpPr txBox="1"/>
          <p:nvPr/>
        </p:nvSpPr>
        <p:spPr>
          <a:xfrm>
            <a:off x="695325" y="2871980"/>
            <a:ext cx="1395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708"/>
          </a:p>
        </p:txBody>
      </p:sp>
      <p:sp>
        <p:nvSpPr>
          <p:cNvPr id="169" name="Google Shape;169;p19"/>
          <p:cNvSpPr txBox="1"/>
          <p:nvPr/>
        </p:nvSpPr>
        <p:spPr>
          <a:xfrm>
            <a:off x="834802" y="2871980"/>
            <a:ext cx="61602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4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Separation of Concerns:</a:t>
            </a:r>
            <a:r>
              <a:rPr lang="en-US" sz="183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Clear division between UI (Widgets), Logic (Provider), and Data (Services).</a:t>
            </a:r>
            <a:endParaRPr sz="1708"/>
          </a:p>
        </p:txBody>
      </p:sp>
      <p:sp>
        <p:nvSpPr>
          <p:cNvPr id="170" name="Google Shape;170;p19"/>
          <p:cNvSpPr txBox="1"/>
          <p:nvPr/>
        </p:nvSpPr>
        <p:spPr>
          <a:xfrm>
            <a:off x="695325" y="3743711"/>
            <a:ext cx="1395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708"/>
          </a:p>
        </p:txBody>
      </p:sp>
      <p:sp>
        <p:nvSpPr>
          <p:cNvPr id="171" name="Google Shape;171;p19"/>
          <p:cNvSpPr txBox="1"/>
          <p:nvPr/>
        </p:nvSpPr>
        <p:spPr>
          <a:xfrm>
            <a:off x="834802" y="3743711"/>
            <a:ext cx="61602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4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Firebase Integration:</a:t>
            </a:r>
            <a:r>
              <a:rPr lang="en-US" sz="183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Firebase services are encapsulated in a dedicated repository or service class.</a:t>
            </a:r>
            <a:endParaRPr sz="1708"/>
          </a:p>
        </p:txBody>
      </p:sp>
      <p:sp>
        <p:nvSpPr>
          <p:cNvPr id="172" name="Google Shape;172;p19"/>
          <p:cNvSpPr txBox="1"/>
          <p:nvPr/>
        </p:nvSpPr>
        <p:spPr>
          <a:xfrm>
            <a:off x="695325" y="4615441"/>
            <a:ext cx="1395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708"/>
          </a:p>
        </p:txBody>
      </p:sp>
      <p:sp>
        <p:nvSpPr>
          <p:cNvPr id="173" name="Google Shape;173;p19"/>
          <p:cNvSpPr txBox="1"/>
          <p:nvPr/>
        </p:nvSpPr>
        <p:spPr>
          <a:xfrm>
            <a:off x="834802" y="4615441"/>
            <a:ext cx="61602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4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State Management:</a:t>
            </a:r>
            <a:r>
              <a:rPr lang="en-US" sz="183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Provider is used to manage app state efficiently, passing data only to widgets that need it.</a:t>
            </a:r>
            <a:endParaRPr sz="1708"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App Architecture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Google Shape;179;p20"/>
          <p:cNvGraphicFramePr/>
          <p:nvPr>
            <p:extLst>
              <p:ext uri="{D42A27DB-BD31-4B8C-83A1-F6EECF244321}">
                <p14:modId xmlns:p14="http://schemas.microsoft.com/office/powerpoint/2010/main" val="1043867059"/>
              </p:ext>
            </p:extLst>
          </p:nvPr>
        </p:nvGraphicFramePr>
        <p:xfrm>
          <a:off x="571500" y="1909762"/>
          <a:ext cx="11049000" cy="3991050"/>
        </p:xfrm>
        <a:graphic>
          <a:graphicData uri="http://schemas.openxmlformats.org/drawingml/2006/table">
            <a:tbl>
              <a:tblPr firstRow="1" bandRow="1">
                <a:noFill/>
                <a:tableStyleId>{015F207B-E796-4933-868C-2BDFB9C0C2B2}</a:tableStyleId>
              </a:tblPr>
              <a:tblGrid>
                <a:gridCol w="33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Team Member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Primary Responsibility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Ahmed Nour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Team Leader &amp; backend setup 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Omar Mahmoud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Home / Auth Screens &amp; presentation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Osama Bhaa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Profile screen &amp; Reusable Components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Mohamed Osama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Documentation &amp; Cart/Auth Screens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Mohamed Hatem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Theming &amp; UI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Zakarya Hamdy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Widgets &amp; Testing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0" name="Google Shape;180;p20"/>
          <p:cNvSpPr/>
          <p:nvPr/>
        </p:nvSpPr>
        <p:spPr>
          <a:xfrm>
            <a:off x="571500" y="2466975"/>
            <a:ext cx="3336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908375" y="2466975"/>
            <a:ext cx="77121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71500" y="3038475"/>
            <a:ext cx="3336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908375" y="3038475"/>
            <a:ext cx="77121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71500" y="3609975"/>
            <a:ext cx="3336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908375" y="3609975"/>
            <a:ext cx="77121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71500" y="4181475"/>
            <a:ext cx="3336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3908375" y="4181475"/>
            <a:ext cx="77121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71500" y="4752975"/>
            <a:ext cx="3336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908375" y="4752975"/>
            <a:ext cx="77121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71500" y="5324475"/>
            <a:ext cx="3336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3908375" y="5324475"/>
            <a:ext cx="77121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Team Contributions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" name="Google Shape;197;p21"/>
          <p:cNvGraphicFramePr/>
          <p:nvPr/>
        </p:nvGraphicFramePr>
        <p:xfrm>
          <a:off x="571500" y="2195512"/>
          <a:ext cx="11049000" cy="3419425"/>
        </p:xfrm>
        <a:graphic>
          <a:graphicData uri="http://schemas.openxmlformats.org/drawingml/2006/table">
            <a:tbl>
              <a:tblPr firstRow="1" bandRow="1">
                <a:noFill/>
                <a:tableStyleId>{015F207B-E796-4933-868C-2BDFB9C0C2B2}</a:tableStyleId>
              </a:tblPr>
              <a:tblGrid>
                <a:gridCol w="178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9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Test Case / 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Expected Result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Authentication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Login with invalid password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Error message "Invalid credentials" is shown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Pass</a:t>
                      </a:r>
                      <a:endParaRPr/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Product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Tap on a product from home screen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Navigate to Product Details screen for that item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Pass</a:t>
                      </a:r>
                      <a:endParaRPr/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Click "Add to Cart" on detail screen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Cart icon badge increments by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Pass</a:t>
                      </a:r>
                      <a:endParaRPr/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 item from cart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Item is removed and cart total recalculates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Pass</a:t>
                      </a:r>
                      <a:endParaRPr/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Checkout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Complete checkout flow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Order appears in "Order History"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Pass</a:t>
                      </a:r>
                      <a:endParaRPr/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8" name="Google Shape;198;p21"/>
          <p:cNvSpPr/>
          <p:nvPr/>
        </p:nvSpPr>
        <p:spPr>
          <a:xfrm>
            <a:off x="571500" y="2752725"/>
            <a:ext cx="1787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2358628" y="2752725"/>
            <a:ext cx="34843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842992" y="2752725"/>
            <a:ext cx="46307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10473779" y="2752725"/>
            <a:ext cx="11467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71500" y="3324225"/>
            <a:ext cx="1787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2358628" y="3324225"/>
            <a:ext cx="34843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842992" y="3324225"/>
            <a:ext cx="46307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10473779" y="3324225"/>
            <a:ext cx="11467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71500" y="3895725"/>
            <a:ext cx="1787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2358628" y="3895725"/>
            <a:ext cx="34843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842992" y="3895725"/>
            <a:ext cx="46307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0473779" y="3895725"/>
            <a:ext cx="11467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71500" y="4467225"/>
            <a:ext cx="1787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358628" y="4467225"/>
            <a:ext cx="34843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842992" y="4467225"/>
            <a:ext cx="46307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10473779" y="4467225"/>
            <a:ext cx="11467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71500" y="5038725"/>
            <a:ext cx="1787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2358628" y="5038725"/>
            <a:ext cx="34843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842992" y="5038725"/>
            <a:ext cx="46307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10473779" y="5038725"/>
            <a:ext cx="11467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4279" y="2967037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4279" y="3538537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4279" y="4110037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4279" y="4681537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4279" y="5253037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Testing: Example Test Cases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62150"/>
            <a:ext cx="34290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1962150"/>
            <a:ext cx="34290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1962150"/>
            <a:ext cx="34290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805815" y="2971800"/>
            <a:ext cx="296037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Project &amp; Firebase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66775" y="3762375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Detailed docs on project scope, goals, and the Firebase Firestore schema design and storage rules.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4605813" y="2971800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GitHub README.md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4676775" y="4219575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comprehensive README with full setup, installation, and dependency instructions to run the app locally.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8860869" y="2971800"/>
            <a:ext cx="209026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User Manual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486775" y="3762375"/>
            <a:ext cx="2838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simple guide that explains the core features and user flows from a customer's perspective.</a:t>
            </a:r>
            <a:endParaRPr/>
          </a:p>
        </p:txBody>
      </p:sp>
      <p:pic>
        <p:nvPicPr>
          <p:cNvPr id="237" name="Google Shape;23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4550" y="227647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72162" y="2276475"/>
            <a:ext cx="4476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48825" y="227647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Documentation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/>
          <p:nvPr/>
        </p:nvSpPr>
        <p:spPr>
          <a:xfrm>
            <a:off x="692463" y="2015367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Setup Instructions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6122200" y="2000250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Live Test Scenarios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78188" y="2624967"/>
            <a:ext cx="1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930588" y="2624967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git clone [repository-url]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778188" y="3025017"/>
            <a:ext cx="1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930588" y="3025017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flutter pub get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778188" y="3425067"/>
            <a:ext cx="1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930588" y="3425067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Run on emulator or real device.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6293650" y="260032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360325" y="2600325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User Login / Registration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6293650" y="302895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360325" y="302895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Browse Product List &amp; View Details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293650" y="345757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6360325" y="3457575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Add Item to Cart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6293650" y="388620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6360325" y="388620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Proceed to Checkout &amp; Confirm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6293650" y="431482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6360325" y="4314825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View Profile &amp; Order History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Demo Flow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>
          <a:extLst>
            <a:ext uri="{FF2B5EF4-FFF2-40B4-BE49-F238E27FC236}">
              <a16:creationId xmlns:a16="http://schemas.microsoft.com/office/drawing/2014/main" id="{DF7C7834-F845-B703-8553-B1CFF6B4B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>
            <a:extLst>
              <a:ext uri="{FF2B5EF4-FFF2-40B4-BE49-F238E27FC236}">
                <a16:creationId xmlns:a16="http://schemas.microsoft.com/office/drawing/2014/main" id="{6205B093-C50A-0C4E-AFA5-3308B8498851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UI</a:t>
            </a:r>
            <a:endParaRPr dirty="0"/>
          </a:p>
        </p:txBody>
      </p:sp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734EF166-F187-0ECB-51A1-2B35501E1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654" y="935888"/>
            <a:ext cx="2456653" cy="54592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1BF6FB2A-2C00-1E34-A451-32EF0EE9B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777" y="906704"/>
            <a:ext cx="2456536" cy="54589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1120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>
          <a:extLst>
            <a:ext uri="{FF2B5EF4-FFF2-40B4-BE49-F238E27FC236}">
              <a16:creationId xmlns:a16="http://schemas.microsoft.com/office/drawing/2014/main" id="{376B4F20-C2F8-0CC5-4670-3D7B3E557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>
            <a:extLst>
              <a:ext uri="{FF2B5EF4-FFF2-40B4-BE49-F238E27FC236}">
                <a16:creationId xmlns:a16="http://schemas.microsoft.com/office/drawing/2014/main" id="{B5716563-F115-D8E1-5784-0E3591B8EBEB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UI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C637E3-C9B6-A1A9-3896-798D8E711A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98254" y="906704"/>
            <a:ext cx="2456653" cy="54592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66191A-7D85-B62C-30C0-5A9959AE86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2737" y="827532"/>
            <a:ext cx="2456536" cy="54589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5AC70A6-3BD3-9CF8-2B32-5737B058E6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726177" y="776732"/>
            <a:ext cx="2456536" cy="54589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14444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/>
        </p:nvSpPr>
        <p:spPr>
          <a:xfrm>
            <a:off x="295275" y="245745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571500" y="382905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777</Words>
  <Application>Microsoft Office PowerPoint</Application>
  <PresentationFormat>Widescreen</PresentationFormat>
  <Paragraphs>123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Poppins</vt:lpstr>
      <vt:lpstr>Calibri</vt:lpstr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42021344</cp:lastModifiedBy>
  <cp:revision>5</cp:revision>
  <dcterms:modified xsi:type="dcterms:W3CDTF">2025-11-21T19:57:35Z</dcterms:modified>
</cp:coreProperties>
</file>