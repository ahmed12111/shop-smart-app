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67" r:id="rId15"/>
  </p:sldIdLst>
  <p:sldSz cx="12192000" cy="6858000"/>
  <p:notesSz cx="6858000" cy="9144000"/>
  <p:embeddedFontLs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Poppins" panose="00000500000000000000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15F207B-E796-4933-868C-2BDFB9C0C2B2}">
  <a:tblStyle styleId="{015F207B-E796-4933-868C-2BDFB9C0C2B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34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>
          <a:extLst>
            <a:ext uri="{FF2B5EF4-FFF2-40B4-BE49-F238E27FC236}">
              <a16:creationId xmlns:a16="http://schemas.microsoft.com/office/drawing/2014/main" id="{7D730BEB-7F75-63B0-2C94-89BA66068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>
            <a:extLst>
              <a:ext uri="{FF2B5EF4-FFF2-40B4-BE49-F238E27FC236}">
                <a16:creationId xmlns:a16="http://schemas.microsoft.com/office/drawing/2014/main" id="{F6804795-2274-7F8C-A168-3DB45B8D0F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:notes">
            <a:extLst>
              <a:ext uri="{FF2B5EF4-FFF2-40B4-BE49-F238E27FC236}">
                <a16:creationId xmlns:a16="http://schemas.microsoft.com/office/drawing/2014/main" id="{999F2A0F-5C40-6E9C-492F-4EA44D4FF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470558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>
          <a:extLst>
            <a:ext uri="{FF2B5EF4-FFF2-40B4-BE49-F238E27FC236}">
              <a16:creationId xmlns:a16="http://schemas.microsoft.com/office/drawing/2014/main" id="{7E8F3CFA-4A75-ADCB-D6D7-C2F33BAB4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>
            <a:extLst>
              <a:ext uri="{FF2B5EF4-FFF2-40B4-BE49-F238E27FC236}">
                <a16:creationId xmlns:a16="http://schemas.microsoft.com/office/drawing/2014/main" id="{9714FBF7-B886-3515-4FBF-FBD12E91E0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:notes">
            <a:extLst>
              <a:ext uri="{FF2B5EF4-FFF2-40B4-BE49-F238E27FC236}">
                <a16:creationId xmlns:a16="http://schemas.microsoft.com/office/drawing/2014/main" id="{7254A837-9422-2EE2-6257-AB037CFD8E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776654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/>
        </p:nvSpPr>
        <p:spPr>
          <a:xfrm>
            <a:off x="1410414" y="2495550"/>
            <a:ext cx="937117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 err="1">
                <a:solidFill>
                  <a:schemeClr val="bg2">
                    <a:lumMod val="60000"/>
                    <a:lumOff val="40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SmartShop</a:t>
            </a:r>
            <a:r>
              <a:rPr lang="en-US" sz="6000" b="1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 Mobile App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633537" y="3829050"/>
            <a:ext cx="89249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2">
                    <a:lumMod val="60000"/>
                    <a:lumOff val="40000"/>
                  </a:schemeClr>
                </a:solidFill>
                <a:latin typeface="Lato"/>
                <a:ea typeface="Lato"/>
                <a:cs typeface="Lato"/>
                <a:sym typeface="Lato"/>
              </a:rPr>
              <a:t>A Flutter &amp; Firebase eCommerce Solution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/>
        </p:nvSpPr>
        <p:spPr>
          <a:xfrm>
            <a:off x="1249802" y="1679236"/>
            <a:ext cx="1143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sz="1800"/>
          </a:p>
        </p:txBody>
      </p:sp>
      <p:sp>
        <p:nvSpPr>
          <p:cNvPr id="92" name="Google Shape;92;p14"/>
          <p:cNvSpPr txBox="1"/>
          <p:nvPr/>
        </p:nvSpPr>
        <p:spPr>
          <a:xfrm>
            <a:off x="1364102" y="1679236"/>
            <a:ext cx="504825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What is </a:t>
            </a:r>
            <a:r>
              <a:rPr lang="en-US" sz="180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SmartShop</a:t>
            </a:r>
            <a:r>
              <a:rPr lang="en-US" sz="18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?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modern, cross-platform eCommerce mobile application built for a seamless user experience.</a:t>
            </a:r>
            <a:endParaRPr sz="1800" dirty="0"/>
          </a:p>
        </p:txBody>
      </p:sp>
      <p:sp>
        <p:nvSpPr>
          <p:cNvPr id="93" name="Google Shape;93;p14"/>
          <p:cNvSpPr txBox="1"/>
          <p:nvPr/>
        </p:nvSpPr>
        <p:spPr>
          <a:xfrm>
            <a:off x="1249802" y="2912825"/>
            <a:ext cx="1143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sz="1800"/>
          </a:p>
        </p:txBody>
      </p:sp>
      <p:sp>
        <p:nvSpPr>
          <p:cNvPr id="94" name="Google Shape;94;p14"/>
          <p:cNvSpPr txBox="1"/>
          <p:nvPr/>
        </p:nvSpPr>
        <p:spPr>
          <a:xfrm>
            <a:off x="1364102" y="2912825"/>
            <a:ext cx="504825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Purpose of the App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To provide a fast, responsive, and user-friendly shopping platform, from browsing to checkout.</a:t>
            </a:r>
            <a:endParaRPr sz="1800" dirty="0"/>
          </a:p>
        </p:txBody>
      </p:sp>
      <p:sp>
        <p:nvSpPr>
          <p:cNvPr id="95" name="Google Shape;95;p14"/>
          <p:cNvSpPr txBox="1"/>
          <p:nvPr/>
        </p:nvSpPr>
        <p:spPr>
          <a:xfrm>
            <a:off x="1249802" y="4175593"/>
            <a:ext cx="1143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sz="1800"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1364102" y="4175593"/>
            <a:ext cx="504825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Target Users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Tech-savvy online shoppers, mobile-first consumers, and anyone seeking a convenient and reliable way to shop.</a:t>
            </a:r>
            <a:endParaRPr sz="1800"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Introduction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190750"/>
            <a:ext cx="3429000" cy="3429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1500" y="2190750"/>
            <a:ext cx="3429000" cy="3429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2190750"/>
            <a:ext cx="3429000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5"/>
          <p:cNvSpPr txBox="1"/>
          <p:nvPr/>
        </p:nvSpPr>
        <p:spPr>
          <a:xfrm>
            <a:off x="945832" y="3200400"/>
            <a:ext cx="268033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Common Issues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866775" y="3990975"/>
            <a:ext cx="28384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Users face clunky UIs, slow performance, and complicated checkout processes in many existing online shopping apps.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4860845" y="3200400"/>
            <a:ext cx="247030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Why They Exist</a:t>
            </a:r>
            <a:endParaRPr dirty="0"/>
          </a:p>
        </p:txBody>
      </p:sp>
      <p:sp>
        <p:nvSpPr>
          <p:cNvPr id="109" name="Google Shape;109;p15"/>
          <p:cNvSpPr txBox="1"/>
          <p:nvPr/>
        </p:nvSpPr>
        <p:spPr>
          <a:xfrm>
            <a:off x="4676775" y="3990975"/>
            <a:ext cx="283845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These problems come from outdated architectures, inefficient backends, and unoptimized data handling.</a:t>
            </a:r>
            <a:endParaRPr lang="en-US"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8665845" y="3200400"/>
            <a:ext cx="248031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The Gap We Fill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8486775" y="3990975"/>
            <a:ext cx="2838450" cy="1731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SmartShop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delivers a fast, scalable, and smooth shopping experience built with modern Flutter design and performance in mind.</a:t>
            </a:r>
            <a:endParaRPr lang="en-US" dirty="0"/>
          </a:p>
        </p:txBody>
      </p:sp>
      <p:pic>
        <p:nvPicPr>
          <p:cNvPr id="112" name="Google Shape;112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57400" y="250507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0" y="2505075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77400" y="2505075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Problem Statement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"/>
          <p:cNvSpPr txBox="1"/>
          <p:nvPr/>
        </p:nvSpPr>
        <p:spPr>
          <a:xfrm>
            <a:off x="1518919" y="1735984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Our Approach</a:t>
            </a:r>
            <a:endParaRPr dirty="0"/>
          </a:p>
        </p:txBody>
      </p:sp>
      <p:sp>
        <p:nvSpPr>
          <p:cNvPr id="122" name="Google Shape;122;p16"/>
          <p:cNvSpPr txBox="1"/>
          <p:nvPr/>
        </p:nvSpPr>
        <p:spPr>
          <a:xfrm>
            <a:off x="1642744" y="2336059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1757044" y="2336059"/>
            <a:ext cx="50482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 single Flutter app provides a smooth, native-like feel on all devices.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1642744" y="3050434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1757044" y="3050434"/>
            <a:ext cx="50482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Main User Flow: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Browse Products -&gt; Add to Cart -&gt; Simple Checkout -&gt; Order Confirmed.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1642744" y="3764809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1757044" y="3764809"/>
            <a:ext cx="50482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Overall Value: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fast, reliable, and enjoyable shopping journey from start to finish.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Solution Overview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Tech Stack</a:t>
            </a:r>
            <a:endParaRPr/>
          </a:p>
        </p:txBody>
      </p:sp>
      <p:sp>
        <p:nvSpPr>
          <p:cNvPr id="134" name="Google Shape;134;p17"/>
          <p:cNvSpPr txBox="1"/>
          <p:nvPr/>
        </p:nvSpPr>
        <p:spPr>
          <a:xfrm>
            <a:off x="1315225" y="1388550"/>
            <a:ext cx="139500" cy="2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sz="1708"/>
          </a:p>
        </p:txBody>
      </p:sp>
      <p:sp>
        <p:nvSpPr>
          <p:cNvPr id="135" name="Google Shape;135;p17"/>
          <p:cNvSpPr txBox="1"/>
          <p:nvPr/>
        </p:nvSpPr>
        <p:spPr>
          <a:xfrm>
            <a:off x="1454699" y="1388550"/>
            <a:ext cx="9564300" cy="7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475" tIns="0" rIns="0" bIns="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Frontend</a:t>
            </a:r>
            <a:r>
              <a:rPr lang="en-US" sz="183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3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Developed with Flutter for a smooth, responsive, and cross-platform experience on iOS and Android. Designed with user-friendly and visually appealing interfaces.</a:t>
            </a:r>
            <a:endParaRPr sz="1708"/>
          </a:p>
        </p:txBody>
      </p:sp>
      <p:sp>
        <p:nvSpPr>
          <p:cNvPr id="136" name="Google Shape;136;p17"/>
          <p:cNvSpPr txBox="1"/>
          <p:nvPr/>
        </p:nvSpPr>
        <p:spPr>
          <a:xfrm>
            <a:off x="1315225" y="2503861"/>
            <a:ext cx="139500" cy="2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sz="1708"/>
          </a:p>
        </p:txBody>
      </p:sp>
      <p:sp>
        <p:nvSpPr>
          <p:cNvPr id="137" name="Google Shape;137;p17"/>
          <p:cNvSpPr txBox="1"/>
          <p:nvPr/>
        </p:nvSpPr>
        <p:spPr>
          <a:xfrm>
            <a:off x="1454700" y="2503854"/>
            <a:ext cx="9514200" cy="7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475" tIns="0" rIns="0" bIns="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Backend</a:t>
            </a:r>
            <a:r>
              <a:rPr lang="en-US" sz="183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3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Powered by Firebase, providing secure and scalable services like Authentication, Firestore, Storage, and real-time notifications. Ensures fast and reliable data management.</a:t>
            </a:r>
            <a:endParaRPr sz="1708"/>
          </a:p>
        </p:txBody>
      </p:sp>
      <p:sp>
        <p:nvSpPr>
          <p:cNvPr id="138" name="Google Shape;138;p17"/>
          <p:cNvSpPr txBox="1"/>
          <p:nvPr/>
        </p:nvSpPr>
        <p:spPr>
          <a:xfrm>
            <a:off x="1315225" y="3606172"/>
            <a:ext cx="139500" cy="2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sz="1708"/>
          </a:p>
        </p:txBody>
      </p:sp>
      <p:sp>
        <p:nvSpPr>
          <p:cNvPr id="139" name="Google Shape;139;p17"/>
          <p:cNvSpPr txBox="1"/>
          <p:nvPr/>
        </p:nvSpPr>
        <p:spPr>
          <a:xfrm>
            <a:off x="1454700" y="3606178"/>
            <a:ext cx="9514200" cy="7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475" tIns="0" rIns="0" bIns="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State Management</a:t>
            </a:r>
            <a:r>
              <a:rPr lang="en-US" sz="183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83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Provider is used to manage the app’s state efficiently, separating logic from UI for clean, maintainable, and scalable code.</a:t>
            </a:r>
            <a:endParaRPr sz="1808"/>
          </a:p>
        </p:txBody>
      </p:sp>
      <p:sp>
        <p:nvSpPr>
          <p:cNvPr id="140" name="Google Shape;140;p17"/>
          <p:cNvSpPr txBox="1"/>
          <p:nvPr/>
        </p:nvSpPr>
        <p:spPr>
          <a:xfrm>
            <a:off x="1467625" y="3758572"/>
            <a:ext cx="139500" cy="2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8"/>
          </a:p>
        </p:txBody>
      </p:sp>
      <p:sp>
        <p:nvSpPr>
          <p:cNvPr id="141" name="Google Shape;141;p17"/>
          <p:cNvSpPr txBox="1"/>
          <p:nvPr/>
        </p:nvSpPr>
        <p:spPr>
          <a:xfrm>
            <a:off x="1315237" y="4569326"/>
            <a:ext cx="139500" cy="2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sz="1708"/>
          </a:p>
        </p:txBody>
      </p:sp>
      <p:sp>
        <p:nvSpPr>
          <p:cNvPr id="142" name="Google Shape;142;p17"/>
          <p:cNvSpPr txBox="1"/>
          <p:nvPr/>
        </p:nvSpPr>
        <p:spPr>
          <a:xfrm>
            <a:off x="1454725" y="4569325"/>
            <a:ext cx="76290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475" tIns="0" rIns="0" bIns="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Tools</a:t>
            </a:r>
            <a:r>
              <a:rPr lang="en-US" sz="183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endParaRPr sz="1830" b="1" i="0" u="none" strike="noStrike" cap="none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11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Lato"/>
              <a:buChar char="●"/>
            </a:pPr>
            <a:r>
              <a:rPr lang="en-US" sz="13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Android Studio </a:t>
            </a:r>
            <a:r>
              <a:rPr lang="en-US" sz="1300" b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en-US" sz="13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main development environment</a:t>
            </a:r>
            <a:endParaRPr sz="1300" b="1" i="0" u="none" strike="noStrike" cap="none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11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Lato"/>
              <a:buChar char="●"/>
            </a:pPr>
            <a:r>
              <a:rPr lang="en-US" sz="13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Git &amp; GitHub </a:t>
            </a:r>
            <a:r>
              <a:rPr lang="en-US" sz="1300" b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en-US" sz="13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version control and collaborative development</a:t>
            </a:r>
            <a:endParaRPr sz="1300" b="1" i="0" u="none" strike="noStrike" cap="none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11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Lato"/>
              <a:buChar char="●"/>
            </a:pPr>
            <a:r>
              <a:rPr lang="en-US" sz="13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Flutter Packages </a:t>
            </a:r>
            <a:r>
              <a:rPr lang="en-US" sz="1300" b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en-US" sz="13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to integrate features like animations, image handling, and network management quickly and reliably</a:t>
            </a:r>
            <a:endParaRPr sz="1300" b="1" i="0" u="none" strike="noStrike" cap="none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30" b="1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8"/>
          <p:cNvSpPr txBox="1"/>
          <p:nvPr/>
        </p:nvSpPr>
        <p:spPr>
          <a:xfrm>
            <a:off x="2190750" y="2238375"/>
            <a:ext cx="8191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User Authentication: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Secure login and registration with Email/Password and Google Sign-In.</a:t>
            </a:r>
            <a:endParaRPr/>
          </a:p>
        </p:txBody>
      </p:sp>
      <p:sp>
        <p:nvSpPr>
          <p:cNvPr id="148" name="Google Shape;148;p18"/>
          <p:cNvSpPr txBox="1"/>
          <p:nvPr/>
        </p:nvSpPr>
        <p:spPr>
          <a:xfrm>
            <a:off x="2190750" y="2714625"/>
            <a:ext cx="8191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Browse Products: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clean, scrollable list of all available products with filtering (if implemented).</a:t>
            </a:r>
            <a:endParaRPr/>
          </a:p>
        </p:txBody>
      </p:sp>
      <p:sp>
        <p:nvSpPr>
          <p:cNvPr id="149" name="Google Shape;149;p18"/>
          <p:cNvSpPr txBox="1"/>
          <p:nvPr/>
        </p:nvSpPr>
        <p:spPr>
          <a:xfrm>
            <a:off x="2190750" y="3190875"/>
            <a:ext cx="8191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Product Details: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View detailed information, including multiple images, price, and description.</a:t>
            </a:r>
            <a:endParaRPr/>
          </a:p>
        </p:txBody>
      </p:sp>
      <p:sp>
        <p:nvSpPr>
          <p:cNvPr id="150" name="Google Shape;150;p18"/>
          <p:cNvSpPr txBox="1"/>
          <p:nvPr/>
        </p:nvSpPr>
        <p:spPr>
          <a:xfrm>
            <a:off x="2190750" y="3667125"/>
            <a:ext cx="8191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Add to Cart: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Seamlessly add products to the user's personal shopping cart.</a:t>
            </a:r>
            <a:endParaRPr/>
          </a:p>
        </p:txBody>
      </p:sp>
      <p:sp>
        <p:nvSpPr>
          <p:cNvPr id="151" name="Google Shape;151;p18"/>
          <p:cNvSpPr txBox="1"/>
          <p:nvPr/>
        </p:nvSpPr>
        <p:spPr>
          <a:xfrm>
            <a:off x="2190750" y="4143375"/>
            <a:ext cx="8191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Cart Management: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Ability to update item quantities or remove items directly from the cart.</a:t>
            </a:r>
            <a:endParaRPr/>
          </a:p>
        </p:txBody>
      </p:sp>
      <p:sp>
        <p:nvSpPr>
          <p:cNvPr id="152" name="Google Shape;152;p18"/>
          <p:cNvSpPr txBox="1"/>
          <p:nvPr/>
        </p:nvSpPr>
        <p:spPr>
          <a:xfrm>
            <a:off x="2190750" y="4619625"/>
            <a:ext cx="8191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Checkout: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simple, multi-step process to confirm the order and shipping details.</a:t>
            </a:r>
            <a:endParaRPr/>
          </a:p>
        </p:txBody>
      </p:sp>
      <p:sp>
        <p:nvSpPr>
          <p:cNvPr id="153" name="Google Shape;153;p18"/>
          <p:cNvSpPr txBox="1"/>
          <p:nvPr/>
        </p:nvSpPr>
        <p:spPr>
          <a:xfrm>
            <a:off x="2190750" y="5095875"/>
            <a:ext cx="8191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User Profile &amp; Order History: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View personal details and a list of all past orders.</a:t>
            </a:r>
            <a:endParaRPr/>
          </a:p>
        </p:txBody>
      </p:sp>
      <p:pic>
        <p:nvPicPr>
          <p:cNvPr id="154" name="Google Shape;154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228600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276225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323850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371475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419100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466725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51435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Core Features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9"/>
          <p:cNvSpPr txBox="1"/>
          <p:nvPr/>
        </p:nvSpPr>
        <p:spPr>
          <a:xfrm>
            <a:off x="695325" y="2000250"/>
            <a:ext cx="139500" cy="2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sz="1708"/>
          </a:p>
        </p:txBody>
      </p:sp>
      <p:sp>
        <p:nvSpPr>
          <p:cNvPr id="167" name="Google Shape;167;p19"/>
          <p:cNvSpPr txBox="1"/>
          <p:nvPr/>
        </p:nvSpPr>
        <p:spPr>
          <a:xfrm>
            <a:off x="834802" y="2000250"/>
            <a:ext cx="6160200" cy="7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4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Clean Folder Structure:</a:t>
            </a: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Organized by feature (e.g., auth, products, cart) for scalability and maintenance.</a:t>
            </a:r>
            <a:endParaRPr sz="1708"/>
          </a:p>
        </p:txBody>
      </p:sp>
      <p:sp>
        <p:nvSpPr>
          <p:cNvPr id="168" name="Google Shape;168;p19"/>
          <p:cNvSpPr txBox="1"/>
          <p:nvPr/>
        </p:nvSpPr>
        <p:spPr>
          <a:xfrm>
            <a:off x="695325" y="2871980"/>
            <a:ext cx="139500" cy="2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sz="1708"/>
          </a:p>
        </p:txBody>
      </p:sp>
      <p:sp>
        <p:nvSpPr>
          <p:cNvPr id="169" name="Google Shape;169;p19"/>
          <p:cNvSpPr txBox="1"/>
          <p:nvPr/>
        </p:nvSpPr>
        <p:spPr>
          <a:xfrm>
            <a:off x="834802" y="2871980"/>
            <a:ext cx="6160200" cy="7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4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Separation of Concerns:</a:t>
            </a: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Clear division between UI (Widgets), Logic (Provider), and Data (Services).</a:t>
            </a:r>
            <a:endParaRPr sz="1708"/>
          </a:p>
        </p:txBody>
      </p:sp>
      <p:sp>
        <p:nvSpPr>
          <p:cNvPr id="170" name="Google Shape;170;p19"/>
          <p:cNvSpPr txBox="1"/>
          <p:nvPr/>
        </p:nvSpPr>
        <p:spPr>
          <a:xfrm>
            <a:off x="695325" y="3743711"/>
            <a:ext cx="139500" cy="2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sz="1708"/>
          </a:p>
        </p:txBody>
      </p:sp>
      <p:sp>
        <p:nvSpPr>
          <p:cNvPr id="171" name="Google Shape;171;p19"/>
          <p:cNvSpPr txBox="1"/>
          <p:nvPr/>
        </p:nvSpPr>
        <p:spPr>
          <a:xfrm>
            <a:off x="834802" y="3743711"/>
            <a:ext cx="6160200" cy="7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4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Firebase Integration:</a:t>
            </a: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Firebase services are encapsulated in a dedicated repository or service class.</a:t>
            </a:r>
            <a:endParaRPr sz="1708"/>
          </a:p>
        </p:txBody>
      </p:sp>
      <p:sp>
        <p:nvSpPr>
          <p:cNvPr id="172" name="Google Shape;172;p19"/>
          <p:cNvSpPr txBox="1"/>
          <p:nvPr/>
        </p:nvSpPr>
        <p:spPr>
          <a:xfrm>
            <a:off x="695325" y="4615441"/>
            <a:ext cx="139500" cy="2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sz="1708"/>
          </a:p>
        </p:txBody>
      </p:sp>
      <p:sp>
        <p:nvSpPr>
          <p:cNvPr id="173" name="Google Shape;173;p19"/>
          <p:cNvSpPr txBox="1"/>
          <p:nvPr/>
        </p:nvSpPr>
        <p:spPr>
          <a:xfrm>
            <a:off x="834802" y="4615441"/>
            <a:ext cx="6160200" cy="7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4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3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State Management:</a:t>
            </a:r>
            <a:r>
              <a:rPr lang="en-US" sz="183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Provider is used to manage app state efficiently, passing data only to widgets that need it.</a:t>
            </a:r>
            <a:endParaRPr sz="1708"/>
          </a:p>
        </p:txBody>
      </p:sp>
      <p:sp>
        <p:nvSpPr>
          <p:cNvPr id="174" name="Google Shape;174;p19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App Architecture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9" name="Google Shape;179;p20"/>
          <p:cNvGraphicFramePr/>
          <p:nvPr>
            <p:extLst>
              <p:ext uri="{D42A27DB-BD31-4B8C-83A1-F6EECF244321}">
                <p14:modId xmlns:p14="http://schemas.microsoft.com/office/powerpoint/2010/main" val="1240681579"/>
              </p:ext>
            </p:extLst>
          </p:nvPr>
        </p:nvGraphicFramePr>
        <p:xfrm>
          <a:off x="571500" y="1909762"/>
          <a:ext cx="11049000" cy="3991050"/>
        </p:xfrm>
        <a:graphic>
          <a:graphicData uri="http://schemas.openxmlformats.org/drawingml/2006/table">
            <a:tbl>
              <a:tblPr firstRow="1" bandRow="1">
                <a:noFill/>
                <a:tableStyleId>{015F207B-E796-4933-868C-2BDFB9C0C2B2}</a:tableStyleId>
              </a:tblPr>
              <a:tblGrid>
                <a:gridCol w="333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0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Team Member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Primary Responsibility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Ahmed Nour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Team Leader &amp; backend setup 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0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Omar Mahmoud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Home / Auth Screens &amp; presentation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0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Osama Bhaa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Profile screen &amp; Reusable Components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0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Mohamed Osama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Documentation &amp; Cart/Auth Screens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0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Mohamed Medhat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Theming &amp; UI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0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Zakarya Hamdy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Widgets &amp; Testing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0" name="Google Shape;180;p20"/>
          <p:cNvSpPr/>
          <p:nvPr/>
        </p:nvSpPr>
        <p:spPr>
          <a:xfrm>
            <a:off x="571500" y="2466975"/>
            <a:ext cx="3336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0"/>
          <p:cNvSpPr/>
          <p:nvPr/>
        </p:nvSpPr>
        <p:spPr>
          <a:xfrm>
            <a:off x="3908375" y="2466975"/>
            <a:ext cx="771212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0"/>
          <p:cNvSpPr/>
          <p:nvPr/>
        </p:nvSpPr>
        <p:spPr>
          <a:xfrm>
            <a:off x="571500" y="3038475"/>
            <a:ext cx="3336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0"/>
          <p:cNvSpPr/>
          <p:nvPr/>
        </p:nvSpPr>
        <p:spPr>
          <a:xfrm>
            <a:off x="3908375" y="3038475"/>
            <a:ext cx="771212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0"/>
          <p:cNvSpPr/>
          <p:nvPr/>
        </p:nvSpPr>
        <p:spPr>
          <a:xfrm>
            <a:off x="571500" y="3609975"/>
            <a:ext cx="3336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0"/>
          <p:cNvSpPr/>
          <p:nvPr/>
        </p:nvSpPr>
        <p:spPr>
          <a:xfrm>
            <a:off x="3908375" y="3609975"/>
            <a:ext cx="771212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0"/>
          <p:cNvSpPr/>
          <p:nvPr/>
        </p:nvSpPr>
        <p:spPr>
          <a:xfrm>
            <a:off x="571500" y="4181475"/>
            <a:ext cx="3336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0"/>
          <p:cNvSpPr/>
          <p:nvPr/>
        </p:nvSpPr>
        <p:spPr>
          <a:xfrm>
            <a:off x="3908375" y="4181475"/>
            <a:ext cx="771212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0"/>
          <p:cNvSpPr/>
          <p:nvPr/>
        </p:nvSpPr>
        <p:spPr>
          <a:xfrm>
            <a:off x="571500" y="4752975"/>
            <a:ext cx="3336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0"/>
          <p:cNvSpPr/>
          <p:nvPr/>
        </p:nvSpPr>
        <p:spPr>
          <a:xfrm>
            <a:off x="3908375" y="4752975"/>
            <a:ext cx="771212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0"/>
          <p:cNvSpPr/>
          <p:nvPr/>
        </p:nvSpPr>
        <p:spPr>
          <a:xfrm>
            <a:off x="571500" y="5324475"/>
            <a:ext cx="3336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0"/>
          <p:cNvSpPr/>
          <p:nvPr/>
        </p:nvSpPr>
        <p:spPr>
          <a:xfrm>
            <a:off x="3908375" y="5324475"/>
            <a:ext cx="771212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Team Contributions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7" name="Google Shape;197;p21"/>
          <p:cNvGraphicFramePr/>
          <p:nvPr/>
        </p:nvGraphicFramePr>
        <p:xfrm>
          <a:off x="571500" y="2195512"/>
          <a:ext cx="11049000" cy="3419425"/>
        </p:xfrm>
        <a:graphic>
          <a:graphicData uri="http://schemas.openxmlformats.org/drawingml/2006/table">
            <a:tbl>
              <a:tblPr firstRow="1" bandRow="1">
                <a:noFill/>
                <a:tableStyleId>{015F207B-E796-4933-868C-2BDFB9C0C2B2}</a:tableStyleId>
              </a:tblPr>
              <a:tblGrid>
                <a:gridCol w="1787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3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6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9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Test Case / Action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Expected Result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Status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9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Authentication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Login with invalid password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Error message "Invalid credentials" is shown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Pass</a:t>
                      </a:r>
                      <a:endParaRPr/>
                    </a:p>
                  </a:txBody>
                  <a:tcPr marL="2667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9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Product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Tap on a product from home screen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Navigate to Product Details screen for that item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Pass</a:t>
                      </a:r>
                      <a:endParaRPr/>
                    </a:p>
                  </a:txBody>
                  <a:tcPr marL="2667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Cart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Click "Add to Cart" on detail screen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Cart icon badge increments by 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Pass</a:t>
                      </a:r>
                      <a:endParaRPr/>
                    </a:p>
                  </a:txBody>
                  <a:tcPr marL="2667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Cart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Remove item from cart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Item is removed and cart total recalculates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Pass</a:t>
                      </a:r>
                      <a:endParaRPr/>
                    </a:p>
                  </a:txBody>
                  <a:tcPr marL="2667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Checkout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Complete checkout flow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Order appears in "Order History"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Pass</a:t>
                      </a:r>
                      <a:endParaRPr/>
                    </a:p>
                  </a:txBody>
                  <a:tcPr marL="2667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8" name="Google Shape;198;p21"/>
          <p:cNvSpPr/>
          <p:nvPr/>
        </p:nvSpPr>
        <p:spPr>
          <a:xfrm>
            <a:off x="571500" y="2752725"/>
            <a:ext cx="17871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1"/>
          <p:cNvSpPr/>
          <p:nvPr/>
        </p:nvSpPr>
        <p:spPr>
          <a:xfrm>
            <a:off x="2358628" y="2752725"/>
            <a:ext cx="34843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1"/>
          <p:cNvSpPr/>
          <p:nvPr/>
        </p:nvSpPr>
        <p:spPr>
          <a:xfrm>
            <a:off x="5842992" y="2752725"/>
            <a:ext cx="463078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1"/>
          <p:cNvSpPr/>
          <p:nvPr/>
        </p:nvSpPr>
        <p:spPr>
          <a:xfrm>
            <a:off x="10473779" y="2752725"/>
            <a:ext cx="11467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1"/>
          <p:cNvSpPr/>
          <p:nvPr/>
        </p:nvSpPr>
        <p:spPr>
          <a:xfrm>
            <a:off x="571500" y="3324225"/>
            <a:ext cx="17871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1"/>
          <p:cNvSpPr/>
          <p:nvPr/>
        </p:nvSpPr>
        <p:spPr>
          <a:xfrm>
            <a:off x="2358628" y="3324225"/>
            <a:ext cx="34843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1"/>
          <p:cNvSpPr/>
          <p:nvPr/>
        </p:nvSpPr>
        <p:spPr>
          <a:xfrm>
            <a:off x="5842992" y="3324225"/>
            <a:ext cx="463078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1"/>
          <p:cNvSpPr/>
          <p:nvPr/>
        </p:nvSpPr>
        <p:spPr>
          <a:xfrm>
            <a:off x="10473779" y="3324225"/>
            <a:ext cx="11467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571500" y="3895725"/>
            <a:ext cx="17871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1"/>
          <p:cNvSpPr/>
          <p:nvPr/>
        </p:nvSpPr>
        <p:spPr>
          <a:xfrm>
            <a:off x="2358628" y="3895725"/>
            <a:ext cx="34843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5842992" y="3895725"/>
            <a:ext cx="463078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/>
          <p:nvPr/>
        </p:nvSpPr>
        <p:spPr>
          <a:xfrm>
            <a:off x="10473779" y="3895725"/>
            <a:ext cx="11467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571500" y="4467225"/>
            <a:ext cx="17871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2358628" y="4467225"/>
            <a:ext cx="34843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5842992" y="4467225"/>
            <a:ext cx="463078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10473779" y="4467225"/>
            <a:ext cx="11467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571500" y="5038725"/>
            <a:ext cx="17871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2358628" y="5038725"/>
            <a:ext cx="34843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842992" y="5038725"/>
            <a:ext cx="463078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10473779" y="5038725"/>
            <a:ext cx="11467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8" name="Google Shape;21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4279" y="2967037"/>
            <a:ext cx="152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4279" y="3538537"/>
            <a:ext cx="152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4279" y="4110037"/>
            <a:ext cx="152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4279" y="4681537"/>
            <a:ext cx="152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4279" y="5253037"/>
            <a:ext cx="1524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Testing: Example Test Cases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962150"/>
            <a:ext cx="3429000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1500" y="1962150"/>
            <a:ext cx="3429000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1962150"/>
            <a:ext cx="3429000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2"/>
          <p:cNvSpPr txBox="1"/>
          <p:nvPr/>
        </p:nvSpPr>
        <p:spPr>
          <a:xfrm>
            <a:off x="805815" y="2971800"/>
            <a:ext cx="296037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Project &amp; Firebase</a:t>
            </a:r>
            <a:endParaRPr/>
          </a:p>
        </p:txBody>
      </p:sp>
      <p:sp>
        <p:nvSpPr>
          <p:cNvPr id="232" name="Google Shape;232;p22"/>
          <p:cNvSpPr txBox="1"/>
          <p:nvPr/>
        </p:nvSpPr>
        <p:spPr>
          <a:xfrm>
            <a:off x="866775" y="3762375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Detailed docs on project scope, goals, and the Firebase Firestore schema design and storage rules.</a:t>
            </a:r>
            <a:endParaRPr/>
          </a:p>
        </p:txBody>
      </p:sp>
      <p:sp>
        <p:nvSpPr>
          <p:cNvPr id="233" name="Google Shape;233;p22"/>
          <p:cNvSpPr txBox="1"/>
          <p:nvPr/>
        </p:nvSpPr>
        <p:spPr>
          <a:xfrm>
            <a:off x="4605813" y="2971800"/>
            <a:ext cx="298037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GitHub README.md</a:t>
            </a:r>
            <a:endParaRPr/>
          </a:p>
        </p:txBody>
      </p:sp>
      <p:sp>
        <p:nvSpPr>
          <p:cNvPr id="234" name="Google Shape;234;p22"/>
          <p:cNvSpPr txBox="1"/>
          <p:nvPr/>
        </p:nvSpPr>
        <p:spPr>
          <a:xfrm>
            <a:off x="4676775" y="4219575"/>
            <a:ext cx="28384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 comprehensive README with full setup, installation, and dependency instructions to run the app locally.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8860869" y="2971800"/>
            <a:ext cx="209026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User Manual</a:t>
            </a:r>
            <a:endParaRPr/>
          </a:p>
        </p:txBody>
      </p:sp>
      <p:sp>
        <p:nvSpPr>
          <p:cNvPr id="236" name="Google Shape;236;p22"/>
          <p:cNvSpPr txBox="1"/>
          <p:nvPr/>
        </p:nvSpPr>
        <p:spPr>
          <a:xfrm>
            <a:off x="8486775" y="3762375"/>
            <a:ext cx="2838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 simple guide that explains the core features and user flows from a customer's perspective.</a:t>
            </a:r>
            <a:endParaRPr/>
          </a:p>
        </p:txBody>
      </p:sp>
      <p:pic>
        <p:nvPicPr>
          <p:cNvPr id="237" name="Google Shape;237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14550" y="2276475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72162" y="2276475"/>
            <a:ext cx="4476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48825" y="2276475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2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Documentation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3"/>
          <p:cNvSpPr txBox="1"/>
          <p:nvPr/>
        </p:nvSpPr>
        <p:spPr>
          <a:xfrm>
            <a:off x="692463" y="2015367"/>
            <a:ext cx="5550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Setup Instructions</a:t>
            </a:r>
            <a:endParaRPr/>
          </a:p>
        </p:txBody>
      </p:sp>
      <p:sp>
        <p:nvSpPr>
          <p:cNvPr id="246" name="Google Shape;246;p23"/>
          <p:cNvSpPr txBox="1"/>
          <p:nvPr/>
        </p:nvSpPr>
        <p:spPr>
          <a:xfrm>
            <a:off x="6122200" y="2000250"/>
            <a:ext cx="5550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Live Test Scenarios</a:t>
            </a:r>
            <a:endParaRPr/>
          </a:p>
        </p:txBody>
      </p:sp>
      <p:sp>
        <p:nvSpPr>
          <p:cNvPr id="247" name="Google Shape;247;p23"/>
          <p:cNvSpPr txBox="1"/>
          <p:nvPr/>
        </p:nvSpPr>
        <p:spPr>
          <a:xfrm>
            <a:off x="778188" y="2624967"/>
            <a:ext cx="152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1.</a:t>
            </a:r>
            <a:endParaRPr/>
          </a:p>
        </p:txBody>
      </p:sp>
      <p:sp>
        <p:nvSpPr>
          <p:cNvPr id="248" name="Google Shape;248;p23"/>
          <p:cNvSpPr txBox="1"/>
          <p:nvPr/>
        </p:nvSpPr>
        <p:spPr>
          <a:xfrm>
            <a:off x="930588" y="2624967"/>
            <a:ext cx="5048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4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git clone [repository-url]</a:t>
            </a:r>
            <a:endParaRPr/>
          </a:p>
        </p:txBody>
      </p:sp>
      <p:sp>
        <p:nvSpPr>
          <p:cNvPr id="249" name="Google Shape;249;p23"/>
          <p:cNvSpPr txBox="1"/>
          <p:nvPr/>
        </p:nvSpPr>
        <p:spPr>
          <a:xfrm>
            <a:off x="778188" y="3025017"/>
            <a:ext cx="152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2.</a:t>
            </a:r>
            <a:endParaRPr/>
          </a:p>
        </p:txBody>
      </p:sp>
      <p:sp>
        <p:nvSpPr>
          <p:cNvPr id="250" name="Google Shape;250;p23"/>
          <p:cNvSpPr txBox="1"/>
          <p:nvPr/>
        </p:nvSpPr>
        <p:spPr>
          <a:xfrm>
            <a:off x="930588" y="3025017"/>
            <a:ext cx="5048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4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flutter pub get</a:t>
            </a:r>
            <a:endParaRPr/>
          </a:p>
        </p:txBody>
      </p:sp>
      <p:sp>
        <p:nvSpPr>
          <p:cNvPr id="251" name="Google Shape;251;p23"/>
          <p:cNvSpPr txBox="1"/>
          <p:nvPr/>
        </p:nvSpPr>
        <p:spPr>
          <a:xfrm>
            <a:off x="778188" y="3425067"/>
            <a:ext cx="152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3.</a:t>
            </a:r>
            <a:endParaRPr/>
          </a:p>
        </p:txBody>
      </p:sp>
      <p:sp>
        <p:nvSpPr>
          <p:cNvPr id="252" name="Google Shape;252;p23"/>
          <p:cNvSpPr txBox="1"/>
          <p:nvPr/>
        </p:nvSpPr>
        <p:spPr>
          <a:xfrm>
            <a:off x="930588" y="3425067"/>
            <a:ext cx="5048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4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Run on emulator or real device.</a:t>
            </a:r>
            <a:endParaRPr/>
          </a:p>
        </p:txBody>
      </p:sp>
      <p:sp>
        <p:nvSpPr>
          <p:cNvPr id="253" name="Google Shape;253;p23"/>
          <p:cNvSpPr txBox="1"/>
          <p:nvPr/>
        </p:nvSpPr>
        <p:spPr>
          <a:xfrm>
            <a:off x="6293650" y="2600325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▪</a:t>
            </a:r>
            <a:endParaRPr/>
          </a:p>
        </p:txBody>
      </p:sp>
      <p:sp>
        <p:nvSpPr>
          <p:cNvPr id="254" name="Google Shape;254;p23"/>
          <p:cNvSpPr txBox="1"/>
          <p:nvPr/>
        </p:nvSpPr>
        <p:spPr>
          <a:xfrm>
            <a:off x="6360325" y="2600325"/>
            <a:ext cx="5048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User Login / Registration</a:t>
            </a:r>
            <a:endParaRPr/>
          </a:p>
        </p:txBody>
      </p:sp>
      <p:sp>
        <p:nvSpPr>
          <p:cNvPr id="255" name="Google Shape;255;p23"/>
          <p:cNvSpPr txBox="1"/>
          <p:nvPr/>
        </p:nvSpPr>
        <p:spPr>
          <a:xfrm>
            <a:off x="6293650" y="3028950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▪</a:t>
            </a:r>
            <a:endParaRPr/>
          </a:p>
        </p:txBody>
      </p:sp>
      <p:sp>
        <p:nvSpPr>
          <p:cNvPr id="256" name="Google Shape;256;p23"/>
          <p:cNvSpPr txBox="1"/>
          <p:nvPr/>
        </p:nvSpPr>
        <p:spPr>
          <a:xfrm>
            <a:off x="6360325" y="3028950"/>
            <a:ext cx="5048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Browse Product List &amp; View Details</a:t>
            </a:r>
            <a:endParaRPr/>
          </a:p>
        </p:txBody>
      </p:sp>
      <p:sp>
        <p:nvSpPr>
          <p:cNvPr id="257" name="Google Shape;257;p23"/>
          <p:cNvSpPr txBox="1"/>
          <p:nvPr/>
        </p:nvSpPr>
        <p:spPr>
          <a:xfrm>
            <a:off x="6293650" y="3457575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▪</a:t>
            </a:r>
            <a:endParaRPr/>
          </a:p>
        </p:txBody>
      </p:sp>
      <p:sp>
        <p:nvSpPr>
          <p:cNvPr id="258" name="Google Shape;258;p23"/>
          <p:cNvSpPr txBox="1"/>
          <p:nvPr/>
        </p:nvSpPr>
        <p:spPr>
          <a:xfrm>
            <a:off x="6360325" y="3457575"/>
            <a:ext cx="5048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Add Item to Cart</a:t>
            </a:r>
            <a:endParaRPr/>
          </a:p>
        </p:txBody>
      </p:sp>
      <p:sp>
        <p:nvSpPr>
          <p:cNvPr id="259" name="Google Shape;259;p23"/>
          <p:cNvSpPr txBox="1"/>
          <p:nvPr/>
        </p:nvSpPr>
        <p:spPr>
          <a:xfrm>
            <a:off x="6293650" y="3886200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▪</a:t>
            </a:r>
            <a:endParaRPr/>
          </a:p>
        </p:txBody>
      </p:sp>
      <p:sp>
        <p:nvSpPr>
          <p:cNvPr id="260" name="Google Shape;260;p23"/>
          <p:cNvSpPr txBox="1"/>
          <p:nvPr/>
        </p:nvSpPr>
        <p:spPr>
          <a:xfrm>
            <a:off x="6360325" y="3886200"/>
            <a:ext cx="5048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Proceed to Checkout &amp; Confirm</a:t>
            </a:r>
            <a:endParaRPr/>
          </a:p>
        </p:txBody>
      </p:sp>
      <p:sp>
        <p:nvSpPr>
          <p:cNvPr id="261" name="Google Shape;261;p23"/>
          <p:cNvSpPr txBox="1"/>
          <p:nvPr/>
        </p:nvSpPr>
        <p:spPr>
          <a:xfrm>
            <a:off x="6293650" y="4314825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▪</a:t>
            </a:r>
            <a:endParaRPr/>
          </a:p>
        </p:txBody>
      </p:sp>
      <p:sp>
        <p:nvSpPr>
          <p:cNvPr id="262" name="Google Shape;262;p23"/>
          <p:cNvSpPr txBox="1"/>
          <p:nvPr/>
        </p:nvSpPr>
        <p:spPr>
          <a:xfrm>
            <a:off x="6360325" y="4314825"/>
            <a:ext cx="5048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View Profile &amp; Order History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Demo Flow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4">
          <a:extLst>
            <a:ext uri="{FF2B5EF4-FFF2-40B4-BE49-F238E27FC236}">
              <a16:creationId xmlns:a16="http://schemas.microsoft.com/office/drawing/2014/main" id="{DF7C7834-F845-B703-8553-B1CFF6B4B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3">
            <a:extLst>
              <a:ext uri="{FF2B5EF4-FFF2-40B4-BE49-F238E27FC236}">
                <a16:creationId xmlns:a16="http://schemas.microsoft.com/office/drawing/2014/main" id="{6205B093-C50A-0C4E-AFA5-3308B8498851}"/>
              </a:ext>
            </a:extLst>
          </p:cNvPr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UI</a:t>
            </a:r>
            <a:endParaRPr dirty="0"/>
          </a:p>
        </p:txBody>
      </p:sp>
      <p:pic>
        <p:nvPicPr>
          <p:cNvPr id="3" name="Picture 2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734EF166-F187-0ECB-51A1-2B35501E1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8654" y="935888"/>
            <a:ext cx="2456653" cy="54592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Picture 4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1BF6FB2A-2C00-1E34-A451-32EF0EE9B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777" y="906704"/>
            <a:ext cx="2456536" cy="54589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1120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4">
          <a:extLst>
            <a:ext uri="{FF2B5EF4-FFF2-40B4-BE49-F238E27FC236}">
              <a16:creationId xmlns:a16="http://schemas.microsoft.com/office/drawing/2014/main" id="{376B4F20-C2F8-0CC5-4670-3D7B3E557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3">
            <a:extLst>
              <a:ext uri="{FF2B5EF4-FFF2-40B4-BE49-F238E27FC236}">
                <a16:creationId xmlns:a16="http://schemas.microsoft.com/office/drawing/2014/main" id="{B5716563-F115-D8E1-5784-0E3591B8EBEB}"/>
              </a:ext>
            </a:extLst>
          </p:cNvPr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UI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C637E3-C9B6-A1A9-3896-798D8E711A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98254" y="906704"/>
            <a:ext cx="2456653" cy="54592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F66191A-7D85-B62C-30C0-5A9959AE86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332737" y="827532"/>
            <a:ext cx="2456536" cy="54589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5AC70A6-3BD3-9CF8-2B32-5737B058E64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726177" y="776732"/>
            <a:ext cx="2456536" cy="54589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14444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4"/>
          <p:cNvSpPr txBox="1"/>
          <p:nvPr/>
        </p:nvSpPr>
        <p:spPr>
          <a:xfrm>
            <a:off x="295275" y="2457450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4F46E5"/>
                </a:solidFill>
                <a:latin typeface="Poppins"/>
                <a:ea typeface="Poppins"/>
                <a:cs typeface="Poppins"/>
                <a:sym typeface="Poppins"/>
              </a:rPr>
              <a:t>Thank You</a:t>
            </a:r>
            <a:endParaRPr/>
          </a:p>
        </p:txBody>
      </p:sp>
      <p:sp>
        <p:nvSpPr>
          <p:cNvPr id="269" name="Google Shape;269;p24"/>
          <p:cNvSpPr txBox="1"/>
          <p:nvPr/>
        </p:nvSpPr>
        <p:spPr>
          <a:xfrm>
            <a:off x="571500" y="3829050"/>
            <a:ext cx="11049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Questions?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777</Words>
  <Application>Microsoft Office PowerPoint</Application>
  <PresentationFormat>Widescreen</PresentationFormat>
  <Paragraphs>123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Lato</vt:lpstr>
      <vt:lpstr>Calibri</vt:lpstr>
      <vt:lpstr>Poppins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42021344</cp:lastModifiedBy>
  <cp:revision>4</cp:revision>
  <dcterms:modified xsi:type="dcterms:W3CDTF">2025-11-20T21:33:06Z</dcterms:modified>
</cp:coreProperties>
</file>